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70" r:id="rId10"/>
    <p:sldId id="264" r:id="rId11"/>
    <p:sldId id="265" r:id="rId12"/>
    <p:sldId id="266" r:id="rId13"/>
    <p:sldId id="267" r:id="rId14"/>
    <p:sldId id="269" r:id="rId15"/>
    <p:sldId id="272" r:id="rId16"/>
    <p:sldId id="268" r:id="rId17"/>
    <p:sldId id="276" r:id="rId18"/>
    <p:sldId id="275" r:id="rId19"/>
    <p:sldId id="274" r:id="rId20"/>
    <p:sldId id="273" r:id="rId21"/>
    <p:sldId id="27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5" autoAdjust="0"/>
    <p:restoredTop sz="94564" autoAdjust="0"/>
  </p:normalViewPr>
  <p:slideViewPr>
    <p:cSldViewPr snapToGrid="0">
      <p:cViewPr varScale="1">
        <p:scale>
          <a:sx n="76" d="100"/>
          <a:sy n="76" d="100"/>
        </p:scale>
        <p:origin x="523" y="58"/>
      </p:cViewPr>
      <p:guideLst/>
    </p:cSldViewPr>
  </p:slideViewPr>
  <p:outlineViewPr>
    <p:cViewPr>
      <p:scale>
        <a:sx n="33" d="100"/>
        <a:sy n="33" d="100"/>
      </p:scale>
      <p:origin x="0" y="-10987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9F4B42-8895-474E-B3A6-BFB66B56F05B}" type="datetimeFigureOut">
              <a:rPr lang="en-US" smtClean="0"/>
              <a:t>7/23/2021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A232DE-A086-40D7-A688-EDEE33F00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520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232DE-A086-40D7-A688-EDEE33F001C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34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65F56-7670-4972-9C64-04D9B5B456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05EC8F-AF5B-4CA6-B08A-01207BA00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68377-E279-4FAE-9CC9-E45697A48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AA65-009A-49D9-BFC9-C84E49CD40BA}" type="datetimeFigureOut">
              <a:rPr lang="en-US" smtClean="0"/>
              <a:t>7/23/2021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F821F-2A7F-4982-A595-CD347C90F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A8321-7296-4B47-993E-D59198D36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21BDE-9A05-4C6C-8FCA-2B456C247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46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017DE-D162-440D-B97E-65AD0E85F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87E54-1D44-4359-A6A2-0D05B15DE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02C3D-4EF9-43F9-9DCD-41F5149B2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AA65-009A-49D9-BFC9-C84E49CD40BA}" type="datetimeFigureOut">
              <a:rPr lang="en-US" smtClean="0"/>
              <a:t>7/23/2021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072D5-1CA8-4623-813D-E2C3DCD34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3F182-D35F-4663-8931-15B069EBA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21BDE-9A05-4C6C-8FCA-2B456C247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042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22642-16C9-4AF4-B8BA-9D2C7841C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A48311-2ABE-4B8C-8ED6-68F054C23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71577-225A-41D7-9C97-A5B07B1AA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AA65-009A-49D9-BFC9-C84E49CD40BA}" type="datetimeFigureOut">
              <a:rPr lang="en-US" smtClean="0"/>
              <a:t>7/23/2021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6B42F-E967-4A90-9931-853FB85A6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AF3DB-6619-4496-A12A-81680881A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21BDE-9A05-4C6C-8FCA-2B456C247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590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F5867-FC62-45DA-B1E2-0729AE9F5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2E851-28C6-4107-9462-FF7E29AF1B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3611E-A8F6-4B8B-A190-9636C8D50A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903EE-EB56-44F6-9AE9-8A9836C03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AA65-009A-49D9-BFC9-C84E49CD40BA}" type="datetimeFigureOut">
              <a:rPr lang="en-US" smtClean="0"/>
              <a:t>7/23/2021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CC4448-2F1F-4A61-B193-BD30B6958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79083F-CC07-4326-83E6-EBBA67804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21BDE-9A05-4C6C-8FCA-2B456C247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861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BAA3C-6B83-44DB-9A51-24AE34058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7D243-1EDC-4131-B290-96E1204E3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81AB5C-E83D-4859-8FAC-454831A88D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4B67D7-F2CE-4C9A-832C-D8548C0D26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3C2BBA-A12A-4782-9541-6085E4604F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F56132-1292-48AB-8999-C770090BC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AA65-009A-49D9-BFC9-C84E49CD40BA}" type="datetimeFigureOut">
              <a:rPr lang="en-US" smtClean="0"/>
              <a:t>7/23/2021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9591C9-0D45-4393-B3DE-7019BE41F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427FB5-1F71-48B5-8D7D-DA14A75D0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21BDE-9A05-4C6C-8FCA-2B456C247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677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BC974-39A8-4E3E-8B39-315C5743C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2813A-D894-4250-93A1-AC66513EB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AA65-009A-49D9-BFC9-C84E49CD40BA}" type="datetimeFigureOut">
              <a:rPr lang="en-US" smtClean="0"/>
              <a:t>7/23/2021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462B3F-0E46-4A2C-9991-7EF82FE7E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03FA36-1AE0-4E38-99A5-E4F8A725B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21BDE-9A05-4C6C-8FCA-2B456C247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501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198C8E-77DF-4659-B0A7-7A7EABEC9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AA65-009A-49D9-BFC9-C84E49CD40BA}" type="datetimeFigureOut">
              <a:rPr lang="en-US" smtClean="0"/>
              <a:t>7/23/2021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364632-A9E1-48BE-9870-1E2CC78D2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7744D7-8008-452A-AD87-055135A49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21BDE-9A05-4C6C-8FCA-2B456C247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959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F02C7-B73F-453D-877F-0082A420A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0CBD4-9DE8-4C00-BF5C-6029F48D4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6FF3C2-4046-4A21-A5A3-B662CD7860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E68B0E-4284-45BA-9527-1A93070DB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AA65-009A-49D9-BFC9-C84E49CD40BA}" type="datetimeFigureOut">
              <a:rPr lang="en-US" smtClean="0"/>
              <a:t>7/23/2021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43DFF-AF9B-4EF6-BA99-77CD5D007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E7CBE9-F5BE-4F6D-BAE8-6E84EAE26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21BDE-9A05-4C6C-8FCA-2B456C247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054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836D3-B7BE-4FE4-9A01-5004B7F93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659819-B2F3-4E66-968E-DFE70D2FF8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349ABC-4A26-4BA8-93AD-6C0FA6379E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A4346-2FF4-4D00-9FD5-BA8CE5122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AA65-009A-49D9-BFC9-C84E49CD40BA}" type="datetimeFigureOut">
              <a:rPr lang="en-US" smtClean="0"/>
              <a:t>7/23/2021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F6B80A-012B-4E6A-BB45-85D657444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33F1ED-F819-4796-909F-79D365564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21BDE-9A05-4C6C-8FCA-2B456C247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462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745A6-FAF0-4D3B-91A8-7B7BB4784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6FC357-9133-4D4C-B89E-243D9BF24C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6F8DC-D5B5-45AA-A380-36991F634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AA65-009A-49D9-BFC9-C84E49CD40BA}" type="datetimeFigureOut">
              <a:rPr lang="en-US" smtClean="0"/>
              <a:t>7/23/2021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1755B-31FC-42F5-A0F2-39085C5C8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D36A5-E9ED-42A8-8543-79624EFAB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21BDE-9A05-4C6C-8FCA-2B456C247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786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F788B3-38C7-4D26-AE7D-BCD1F45C45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24A491-7CAF-4D9A-97AF-B40CAED15E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0C9D8-185E-4C87-8B4E-2FD636DAF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AA65-009A-49D9-BFC9-C84E49CD40BA}" type="datetimeFigureOut">
              <a:rPr lang="en-US" smtClean="0"/>
              <a:t>7/23/2021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D6992-B5A6-4845-94FD-B70083F9B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B2D81-DA01-4EFC-8505-0907A957E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21BDE-9A05-4C6C-8FCA-2B456C247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966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B247E4-CF12-4915-A921-FD9D19347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A73EF5-57C7-42FC-9D1E-F25A52D48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E3D71-0EE7-486A-BB97-34D15B926E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9CAA65-009A-49D9-BFC9-C84E49CD40BA}" type="datetimeFigureOut">
              <a:rPr lang="en-US" smtClean="0"/>
              <a:t>7/23/2021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2D8F2-E069-475E-83E8-1FB75F88BB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686A2-956F-409B-A4D0-5AE170500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221BDE-9A05-4C6C-8FCA-2B456C247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064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cdc.noaa.gov/gridsat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86295E7F-EA66-480B-B001-C8BE7CD619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0040" y="4892040"/>
            <a:ext cx="11548872" cy="1645920"/>
          </a:xfrm>
          <a:prstGeom prst="rect">
            <a:avLst/>
          </a:prstGeom>
          <a:solidFill>
            <a:srgbClr val="262626"/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DA83C1-295A-45AC-BB1A-BD6229B9F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8686" y="5091762"/>
            <a:ext cx="7484787" cy="1264588"/>
          </a:xfrm>
        </p:spPr>
        <p:txBody>
          <a:bodyPr anchor="ctr">
            <a:normAutofit/>
          </a:bodyPr>
          <a:lstStyle/>
          <a:p>
            <a:pPr algn="r"/>
            <a:r>
              <a:rPr lang="en-US" sz="4100" dirty="0">
                <a:solidFill>
                  <a:srgbClr val="FFFFFF"/>
                </a:solidFill>
              </a:rPr>
              <a:t>Learning the Representations of  Satellite Images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08CB42-73E2-410F-93B1-0C3227A297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02119" y="5091763"/>
            <a:ext cx="2871195" cy="1264587"/>
          </a:xfrm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rgbClr val="FFC000"/>
                </a:solidFill>
              </a:rPr>
              <a:t>NOAA GridSat-B1 Dataset</a:t>
            </a:r>
          </a:p>
          <a:p>
            <a:r>
              <a:rPr lang="en-US" sz="2000" dirty="0">
                <a:solidFill>
                  <a:srgbClr val="FFC000"/>
                </a:solidFill>
              </a:rPr>
              <a:t> and </a:t>
            </a:r>
          </a:p>
          <a:p>
            <a:r>
              <a:rPr lang="en-US" sz="2000" dirty="0">
                <a:solidFill>
                  <a:srgbClr val="FFC000"/>
                </a:solidFill>
              </a:rPr>
              <a:t>Weather Events in Taiwan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E70496B-C7EF-42D0-88C1-1C3E292B89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8" r="-1" b="-1"/>
          <a:stretch/>
        </p:blipFill>
        <p:spPr bwMode="auto">
          <a:xfrm>
            <a:off x="320040" y="320040"/>
            <a:ext cx="11548872" cy="4462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E126E481-B945-4179-BD79-05E96E9B2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2916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op Free Satellite Imagery Sources">
            <a:extLst>
              <a:ext uri="{FF2B5EF4-FFF2-40B4-BE49-F238E27FC236}">
                <a16:creationId xmlns:a16="http://schemas.microsoft.com/office/drawing/2014/main" id="{D59B79C3-5B6F-451A-BF3A-F4498237B0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826" r="23327"/>
          <a:stretch/>
        </p:blipFill>
        <p:spPr bwMode="auto">
          <a:xfrm>
            <a:off x="5335793" y="0"/>
            <a:ext cx="6856208" cy="68580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AE1FAA-7760-4CE7-B4A4-F578E553C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681CE-9011-4B44-BFB0-E9E0348DC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Representation Learning</a:t>
            </a:r>
          </a:p>
          <a:p>
            <a:pPr lvl="1"/>
            <a:r>
              <a:rPr lang="en-US" dirty="0"/>
              <a:t>What is representation learning?</a:t>
            </a:r>
          </a:p>
          <a:p>
            <a:pPr lvl="1"/>
            <a:r>
              <a:rPr lang="en-US" dirty="0"/>
              <a:t>How to evaluate the learned representations?</a:t>
            </a:r>
          </a:p>
          <a:p>
            <a:r>
              <a:rPr lang="en-US" dirty="0"/>
              <a:t>Dataset</a:t>
            </a:r>
          </a:p>
          <a:p>
            <a:pPr lvl="1"/>
            <a:r>
              <a:rPr lang="en-US" dirty="0"/>
              <a:t>NOAA GridSat-B1</a:t>
            </a:r>
          </a:p>
          <a:p>
            <a:pPr lvl="1"/>
            <a:r>
              <a:rPr lang="en-US" dirty="0"/>
              <a:t>TAD</a:t>
            </a:r>
          </a:p>
          <a:p>
            <a:r>
              <a:rPr lang="en-US" dirty="0"/>
              <a:t>Experiment Design</a:t>
            </a:r>
          </a:p>
          <a:p>
            <a:r>
              <a:rPr lang="en-US" dirty="0"/>
              <a:t>A Note on Transfer Learning</a:t>
            </a:r>
          </a:p>
          <a:p>
            <a:r>
              <a:rPr lang="en-US" dirty="0"/>
              <a:t>Some Results</a:t>
            </a:r>
          </a:p>
        </p:txBody>
      </p:sp>
    </p:spTree>
    <p:extLst>
      <p:ext uri="{BB962C8B-B14F-4D97-AF65-F5344CB8AC3E}">
        <p14:creationId xmlns:p14="http://schemas.microsoft.com/office/powerpoint/2010/main" val="2118177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E2590-329F-4C8E-893B-FE199EB21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is Representation Learning?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B4061-6256-419D-A78A-93604248B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machine learning, </a:t>
            </a:r>
            <a:r>
              <a:rPr lang="en-US" b="1" dirty="0"/>
              <a:t>feature learning</a:t>
            </a:r>
            <a:r>
              <a:rPr lang="en-US" dirty="0"/>
              <a:t> or </a:t>
            </a:r>
            <a:r>
              <a:rPr lang="en-US" b="1" dirty="0"/>
              <a:t>representation learning</a:t>
            </a:r>
            <a:r>
              <a:rPr lang="en-US" dirty="0"/>
              <a:t> is a set of techniques that allows a system to </a:t>
            </a:r>
            <a:r>
              <a:rPr lang="en-US" b="1" i="1" dirty="0"/>
              <a:t>automatically</a:t>
            </a:r>
            <a:r>
              <a:rPr lang="en-US" dirty="0"/>
              <a:t> discover the representations </a:t>
            </a:r>
            <a:r>
              <a:rPr lang="en-US" b="1" i="1" dirty="0"/>
              <a:t>needed for feature detection or classification</a:t>
            </a:r>
            <a:r>
              <a:rPr lang="en-US" dirty="0"/>
              <a:t> from raw data.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1B8DC2-F617-42FE-9C2F-F4C8720BD601}"/>
              </a:ext>
            </a:extLst>
          </p:cNvPr>
          <p:cNvSpPr txBox="1"/>
          <p:nvPr/>
        </p:nvSpPr>
        <p:spPr>
          <a:xfrm>
            <a:off x="6855312" y="6311900"/>
            <a:ext cx="49027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https://en.wikipedia.org/wiki/Feature_learning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1BE6C3-3189-4893-94FB-F536DB581074}"/>
              </a:ext>
            </a:extLst>
          </p:cNvPr>
          <p:cNvSpPr/>
          <p:nvPr/>
        </p:nvSpPr>
        <p:spPr>
          <a:xfrm>
            <a:off x="838200" y="3636587"/>
            <a:ext cx="10515600" cy="11314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The process is automatic.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BDFC1A-91BE-44EB-86FF-BDC7EB79BB7D}"/>
              </a:ext>
            </a:extLst>
          </p:cNvPr>
          <p:cNvSpPr/>
          <p:nvPr/>
        </p:nvSpPr>
        <p:spPr>
          <a:xfrm>
            <a:off x="838200" y="4902933"/>
            <a:ext cx="10515600" cy="113140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The learned features/representations should be evaluated against some downstream tasks.</a:t>
            </a:r>
          </a:p>
        </p:txBody>
      </p:sp>
    </p:spTree>
    <p:extLst>
      <p:ext uri="{BB962C8B-B14F-4D97-AF65-F5344CB8AC3E}">
        <p14:creationId xmlns:p14="http://schemas.microsoft.com/office/powerpoint/2010/main" val="4073934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14AC0-D43F-42A8-A062-72B39118F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Short Review of Representation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06D91-4E6B-4F09-9871-61791643E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Dimension reduction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the input data is too large to be processed efficiently, and hence we need a way to reduce its size.</a:t>
            </a:r>
          </a:p>
          <a:p>
            <a:r>
              <a:rPr lang="en-US" b="1" dirty="0"/>
              <a:t>Feature engineering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Manually designed filters or functions to reduce the input data size for further analysis.</a:t>
            </a:r>
          </a:p>
          <a:p>
            <a:r>
              <a:rPr lang="en-US" b="1" dirty="0"/>
              <a:t>Problems</a:t>
            </a:r>
          </a:p>
          <a:p>
            <a:pPr lvl="1"/>
            <a:r>
              <a:rPr lang="en-US" dirty="0"/>
              <a:t>Requires significant human interference</a:t>
            </a:r>
          </a:p>
          <a:p>
            <a:pPr lvl="1"/>
            <a:r>
              <a:rPr lang="en-US" dirty="0"/>
              <a:t>Derived features are task-dependent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27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14AC0-D43F-42A8-A062-72B39118F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Toward automatic discovery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54677-5DE8-44C9-9808-4EF1F7AAB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Nonlinear mapping techniques</a:t>
            </a:r>
          </a:p>
          <a:p>
            <a:pPr lvl="1"/>
            <a:r>
              <a:rPr lang="en-US" dirty="0" err="1"/>
              <a:t>Sammon</a:t>
            </a:r>
            <a:r>
              <a:rPr lang="en-US" dirty="0"/>
              <a:t> mapping (</a:t>
            </a:r>
            <a:r>
              <a:rPr lang="en-US" dirty="0" err="1"/>
              <a:t>Sammon</a:t>
            </a:r>
            <a:r>
              <a:rPr lang="en-US" dirty="0"/>
              <a:t>, 1969)</a:t>
            </a:r>
          </a:p>
          <a:p>
            <a:pPr lvl="1"/>
            <a:r>
              <a:rPr lang="en-US" dirty="0"/>
              <a:t>self-organizing map (SOM, </a:t>
            </a:r>
            <a:r>
              <a:rPr lang="en-US" dirty="0" err="1"/>
              <a:t>Kohonen</a:t>
            </a:r>
            <a:r>
              <a:rPr lang="en-US" dirty="0"/>
              <a:t>, 1982)</a:t>
            </a:r>
          </a:p>
          <a:p>
            <a:r>
              <a:rPr lang="en-US" dirty="0"/>
              <a:t>Manifold Learning</a:t>
            </a:r>
          </a:p>
          <a:p>
            <a:pPr lvl="1"/>
            <a:r>
              <a:rPr lang="en-US" dirty="0"/>
              <a:t>kernel-PCA (</a:t>
            </a:r>
            <a:r>
              <a:rPr lang="en-US" dirty="0" err="1"/>
              <a:t>Schölkopf</a:t>
            </a:r>
            <a:r>
              <a:rPr lang="en-US" dirty="0"/>
              <a:t>, 1998)</a:t>
            </a:r>
          </a:p>
          <a:p>
            <a:pPr lvl="1"/>
            <a:r>
              <a:rPr lang="en-US" dirty="0"/>
              <a:t>spectral graph theory (Lawrence, 2012)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AA5154-15C4-4460-B30A-7545E9ED0DFC}"/>
              </a:ext>
            </a:extLst>
          </p:cNvPr>
          <p:cNvSpPr txBox="1"/>
          <p:nvPr/>
        </p:nvSpPr>
        <p:spPr>
          <a:xfrm>
            <a:off x="838200" y="4832969"/>
            <a:ext cx="10515600" cy="1478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0215" indent="-449580">
              <a:lnSpc>
                <a:spcPct val="107000"/>
              </a:lnSpc>
              <a:spcAft>
                <a:spcPts val="800"/>
              </a:spcAft>
            </a:pPr>
            <a:r>
              <a:rPr lang="en-US" sz="1100" dirty="0" err="1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Sammon</a:t>
            </a:r>
            <a:r>
              <a:rPr lang="en-US" sz="1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, J. W. (1969). "A nonlinear mapping for data structure analysis". </a:t>
            </a:r>
            <a:r>
              <a:rPr lang="en-US" sz="1100" i="1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IEEE Transactions on Computers</a:t>
            </a:r>
            <a:r>
              <a:rPr lang="en-US" sz="1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. 18 (5): 401, 402, 403–409. doi:10.1109/t-c.1969.222678.</a:t>
            </a:r>
            <a:endParaRPr lang="en-US" sz="105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0215" indent="-449580">
              <a:lnSpc>
                <a:spcPct val="107000"/>
              </a:lnSpc>
              <a:spcAft>
                <a:spcPts val="800"/>
              </a:spcAft>
            </a:pPr>
            <a:r>
              <a:rPr lang="en-US" sz="1100" dirty="0" err="1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Kohonen</a:t>
            </a:r>
            <a:r>
              <a:rPr lang="en-US" sz="1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, </a:t>
            </a:r>
            <a:r>
              <a:rPr lang="en-US" sz="1100" dirty="0" err="1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Teuvo</a:t>
            </a:r>
            <a:r>
              <a:rPr lang="en-US" sz="1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 (1982). "Self-Organized Formation of Topologically Correct Feature Maps". </a:t>
            </a:r>
            <a:r>
              <a:rPr lang="en-US" sz="1100" i="1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Biological Cybernetics</a:t>
            </a:r>
            <a:r>
              <a:rPr lang="en-US" sz="1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. 43 (1): 59–69. doi:10.1007/bf00337288. S2CID 206775459.</a:t>
            </a:r>
            <a:endParaRPr lang="en-US" sz="105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0215" indent="-449580">
              <a:lnSpc>
                <a:spcPct val="107000"/>
              </a:lnSpc>
              <a:spcAft>
                <a:spcPts val="800"/>
              </a:spcAft>
            </a:pPr>
            <a:r>
              <a:rPr lang="en-US" sz="1100" dirty="0" err="1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Schölkopf</a:t>
            </a:r>
            <a:r>
              <a:rPr lang="en-US" sz="1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, Bernhard (1998). "Nonlinear Component Analysis as a Kernel Eigenvalue Problem". </a:t>
            </a:r>
            <a:r>
              <a:rPr lang="en-US" sz="1100" i="1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Neural Computation</a:t>
            </a:r>
            <a:r>
              <a:rPr lang="en-US" sz="1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. 10 (5): 1299–1319. </a:t>
            </a:r>
            <a:r>
              <a:rPr lang="en-US" sz="1100" dirty="0" err="1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CiteSeerX</a:t>
            </a:r>
            <a:r>
              <a:rPr lang="en-US" sz="1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 10.1.1.100.3636. doi:10.1162/089976698300017467. S2CID 6674407.</a:t>
            </a:r>
            <a:endParaRPr lang="en-US" sz="105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0215" indent="-449580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Lawrence, Neil D (2012). "A unifying probabilistic perspective for spectral dimensionality reduction: insights and new models". </a:t>
            </a:r>
            <a:r>
              <a:rPr lang="en-US" sz="1100" i="1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Journal of Machine Learning Research</a:t>
            </a:r>
            <a:r>
              <a:rPr lang="en-US" sz="1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. 13 (May): 1609–1638. arXiv:1010.4830.</a:t>
            </a:r>
            <a:endParaRPr lang="en-US" sz="105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696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14AC0-D43F-42A8-A062-72B39118F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Here Come the Deep Neural Networks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799F37-58FE-4D13-90A9-206671C9282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8193" y="1825625"/>
            <a:ext cx="6975439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C26F71-DCA5-41C5-A350-8F99019514BC}"/>
              </a:ext>
            </a:extLst>
          </p:cNvPr>
          <p:cNvSpPr txBox="1"/>
          <p:nvPr/>
        </p:nvSpPr>
        <p:spPr>
          <a:xfrm>
            <a:off x="6295913" y="6247523"/>
            <a:ext cx="50578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(adapted from Bengio et al., 2013)</a:t>
            </a:r>
            <a:endParaRPr lang="en-US" sz="16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052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5F11D-F435-4B8E-949A-10E157C17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Evaluation of Learned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B2EAF-AC16-4D41-A176-3A94BE5A8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self-supervised methods</a:t>
            </a:r>
          </a:p>
          <a:p>
            <a:pPr lvl="1"/>
            <a:r>
              <a:rPr lang="en-US" dirty="0"/>
              <a:t>Reconstruction errors (RMSE, pattern correlation, …etc.)</a:t>
            </a:r>
          </a:p>
          <a:p>
            <a:r>
              <a:rPr lang="en-US" dirty="0"/>
              <a:t>For supervised methods</a:t>
            </a:r>
          </a:p>
          <a:p>
            <a:pPr lvl="1"/>
            <a:r>
              <a:rPr lang="en-US" dirty="0"/>
              <a:t>Design various downstream tasks</a:t>
            </a:r>
          </a:p>
          <a:p>
            <a:pPr lvl="1"/>
            <a:r>
              <a:rPr lang="en-US" dirty="0"/>
              <a:t>Evaluate the overall performance of the tasks</a:t>
            </a:r>
          </a:p>
          <a:p>
            <a:r>
              <a:rPr lang="en-US" dirty="0"/>
              <a:t>What are proper tasks for evaluating satellite images?</a:t>
            </a:r>
          </a:p>
          <a:p>
            <a:pPr lvl="1"/>
            <a:r>
              <a:rPr lang="en-US" dirty="0"/>
              <a:t>Object detection?</a:t>
            </a:r>
          </a:p>
          <a:p>
            <a:pPr lvl="1"/>
            <a:r>
              <a:rPr lang="en-US" dirty="0"/>
              <a:t>Meteorological events on the surface?</a:t>
            </a:r>
          </a:p>
        </p:txBody>
      </p:sp>
    </p:spTree>
    <p:extLst>
      <p:ext uri="{BB962C8B-B14F-4D97-AF65-F5344CB8AC3E}">
        <p14:creationId xmlns:p14="http://schemas.microsoft.com/office/powerpoint/2010/main" val="2785466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6123F-2B93-44FB-899D-0FF9CA8FB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7EF95-2BE4-4BFF-BB78-CB3E2208D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NOAA GridSat-B1 CDR</a:t>
            </a:r>
            <a:endParaRPr lang="en-US" dirty="0"/>
          </a:p>
          <a:p>
            <a:pPr lvl="1"/>
            <a:r>
              <a:rPr lang="en-US" dirty="0"/>
              <a:t>1998 – 2018, Global coverage (70N to 70S)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Data included from most meteorological geostationary satellites.</a:t>
            </a:r>
          </a:p>
          <a:p>
            <a:pPr lvl="1"/>
            <a:r>
              <a:rPr lang="en-US" dirty="0"/>
              <a:t>Variable used: brightness temperature</a:t>
            </a:r>
          </a:p>
          <a:p>
            <a:pPr lvl="1"/>
            <a:r>
              <a:rPr lang="en-US" dirty="0"/>
              <a:t>Cropped domain: 100-160E, 0-60N</a:t>
            </a:r>
          </a:p>
          <a:p>
            <a:r>
              <a:rPr lang="en-US" dirty="0"/>
              <a:t>Precipitation</a:t>
            </a:r>
          </a:p>
          <a:p>
            <a:pPr lvl="1"/>
            <a:r>
              <a:rPr lang="en-US" dirty="0"/>
              <a:t>Hourly precipitation records of 45 CWB stations in Taipei basin</a:t>
            </a:r>
          </a:p>
          <a:p>
            <a:r>
              <a:rPr lang="en-US" dirty="0"/>
              <a:t>TAD</a:t>
            </a:r>
          </a:p>
          <a:p>
            <a:pPr lvl="1"/>
            <a:r>
              <a:rPr lang="en-US" dirty="0"/>
              <a:t>Daily weather events in Taiwan area (1980-2019)</a:t>
            </a:r>
          </a:p>
        </p:txBody>
      </p:sp>
    </p:spTree>
    <p:extLst>
      <p:ext uri="{BB962C8B-B14F-4D97-AF65-F5344CB8AC3E}">
        <p14:creationId xmlns:p14="http://schemas.microsoft.com/office/powerpoint/2010/main" val="807643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9F853A5-9FCC-4A53-B0AB-D54D27988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9128" y="365125"/>
            <a:ext cx="3215919" cy="30939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B6123F-2B93-44FB-899D-0FF9CA8FB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Define Weather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7EF95-2BE4-4BFF-BB78-CB3E2208D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35814" cy="4351338"/>
          </a:xfrm>
        </p:spPr>
        <p:txBody>
          <a:bodyPr/>
          <a:lstStyle/>
          <a:p>
            <a:r>
              <a:rPr lang="en-US" altLang="zh-TW" dirty="0"/>
              <a:t>Precipitation</a:t>
            </a:r>
          </a:p>
          <a:p>
            <a:pPr lvl="1"/>
            <a:r>
              <a:rPr lang="en-US" altLang="zh-TW" dirty="0"/>
              <a:t>To predict the mean daily precipitation in Taipei basin</a:t>
            </a:r>
          </a:p>
          <a:p>
            <a:pPr lvl="1"/>
            <a:r>
              <a:rPr lang="en-US" altLang="zh-TW" dirty="0"/>
              <a:t>To detect rainfall events (&gt;=10mm/</a:t>
            </a:r>
            <a:r>
              <a:rPr lang="en-US" altLang="zh-TW" dirty="0" err="1"/>
              <a:t>hr</a:t>
            </a:r>
            <a:r>
              <a:rPr lang="en-US" altLang="zh-TW" dirty="0"/>
              <a:t>)  in Taipei basin</a:t>
            </a:r>
          </a:p>
          <a:p>
            <a:r>
              <a:rPr lang="en-US" altLang="zh-TW" dirty="0"/>
              <a:t>TAD defined events:</a:t>
            </a:r>
          </a:p>
          <a:p>
            <a:pPr lvl="1"/>
            <a:r>
              <a:rPr lang="en-US" altLang="zh-TW" b="1" dirty="0"/>
              <a:t>NWPTC</a:t>
            </a:r>
            <a:r>
              <a:rPr lang="en-US" altLang="zh-TW" dirty="0"/>
              <a:t>: there exist tropical cyclones in the North-Western Pacific.</a:t>
            </a:r>
          </a:p>
          <a:p>
            <a:pPr lvl="1"/>
            <a:r>
              <a:rPr lang="en-US" altLang="zh-TW" b="1" dirty="0"/>
              <a:t>FT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there</a:t>
            </a:r>
            <a:r>
              <a:rPr lang="zh-TW" altLang="en-US" dirty="0"/>
              <a:t> </a:t>
            </a:r>
            <a:r>
              <a:rPr lang="en-US" altLang="zh-TW" dirty="0"/>
              <a:t>exist</a:t>
            </a:r>
            <a:r>
              <a:rPr lang="zh-TW" altLang="en-US" dirty="0"/>
              <a:t> </a:t>
            </a:r>
            <a:r>
              <a:rPr lang="en-US" altLang="zh-TW" dirty="0"/>
              <a:t>a</a:t>
            </a:r>
            <a:r>
              <a:rPr lang="zh-TW" altLang="en-US" dirty="0"/>
              <a:t> </a:t>
            </a:r>
            <a:r>
              <a:rPr lang="en-US" altLang="zh-TW" dirty="0"/>
              <a:t>front</a:t>
            </a:r>
            <a:r>
              <a:rPr lang="zh-TW" altLang="en-US" dirty="0"/>
              <a:t> </a:t>
            </a:r>
            <a:r>
              <a:rPr lang="en-US" altLang="zh-TW" dirty="0"/>
              <a:t>over</a:t>
            </a:r>
            <a:r>
              <a:rPr lang="zh-TW" altLang="en-US" dirty="0"/>
              <a:t> </a:t>
            </a:r>
            <a:r>
              <a:rPr lang="en-US" altLang="zh-TW" dirty="0"/>
              <a:t>Taiwan</a:t>
            </a:r>
            <a:r>
              <a:rPr lang="zh-TW" altLang="en-US" dirty="0"/>
              <a:t> </a:t>
            </a:r>
            <a:r>
              <a:rPr lang="en-US" altLang="zh-TW" dirty="0"/>
              <a:t>in</a:t>
            </a:r>
            <a:r>
              <a:rPr lang="zh-TW" altLang="en-US" dirty="0"/>
              <a:t> </a:t>
            </a:r>
            <a:r>
              <a:rPr lang="en-US" altLang="zh-TW" dirty="0"/>
              <a:t>the</a:t>
            </a:r>
            <a:r>
              <a:rPr lang="zh-TW" altLang="en-US" dirty="0"/>
              <a:t> </a:t>
            </a:r>
            <a:r>
              <a:rPr lang="en-US" altLang="zh-TW" dirty="0"/>
              <a:t>weather</a:t>
            </a:r>
            <a:r>
              <a:rPr lang="zh-TW" altLang="en-US" dirty="0"/>
              <a:t> </a:t>
            </a:r>
            <a:r>
              <a:rPr lang="en-US" altLang="zh-TW" dirty="0"/>
              <a:t>map</a:t>
            </a:r>
            <a:r>
              <a:rPr lang="zh-TW" altLang="en-US" dirty="0"/>
              <a:t> </a:t>
            </a:r>
            <a:r>
              <a:rPr lang="en-US" altLang="zh-TW" dirty="0"/>
              <a:t>issued</a:t>
            </a:r>
            <a:r>
              <a:rPr lang="zh-TW" altLang="en-US" dirty="0"/>
              <a:t> </a:t>
            </a:r>
            <a:r>
              <a:rPr lang="en-US" altLang="zh-TW" dirty="0"/>
              <a:t>by</a:t>
            </a:r>
            <a:r>
              <a:rPr lang="zh-TW" altLang="en-US" dirty="0"/>
              <a:t> </a:t>
            </a:r>
            <a:r>
              <a:rPr lang="en-US" altLang="zh-TW" dirty="0"/>
              <a:t>CWB.</a:t>
            </a:r>
          </a:p>
          <a:p>
            <a:pPr lvl="1"/>
            <a:r>
              <a:rPr lang="en-US" altLang="zh-TW" b="1" dirty="0"/>
              <a:t>NE</a:t>
            </a:r>
            <a:r>
              <a:rPr lang="en-US" altLang="zh-TW" dirty="0"/>
              <a:t>: defined by the wind profile of </a:t>
            </a:r>
            <a:r>
              <a:rPr lang="en-US" altLang="zh-TW" dirty="0" err="1"/>
              <a:t>Pengjiayu</a:t>
            </a:r>
            <a:r>
              <a:rPr lang="en-US" altLang="zh-TW" dirty="0"/>
              <a:t> Weather Station (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彭佳嶼測站</a:t>
            </a:r>
            <a:r>
              <a:rPr lang="en-US" altLang="zh-TW" dirty="0"/>
              <a:t>): daily mean wind speed &gt;=4m/s, and wind direction within (15, 75) degree.</a:t>
            </a:r>
          </a:p>
          <a:p>
            <a:pPr lvl="1"/>
            <a:r>
              <a:rPr lang="en-US" altLang="zh-TW" b="1" dirty="0"/>
              <a:t>SWF</a:t>
            </a:r>
            <a:r>
              <a:rPr lang="en-US" altLang="zh-TW" dirty="0"/>
              <a:t>: define by CFSR 850hPa reanalysis: within the red rectangle, u&gt;0 and v&gt;0, and average wind-speed &gt;=3m/s (or 30% of grids with wind-speed &gt;=6m/s)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CE034E-034E-47A7-B7C3-234945C301B8}"/>
              </a:ext>
            </a:extLst>
          </p:cNvPr>
          <p:cNvSpPr txBox="1"/>
          <p:nvPr/>
        </p:nvSpPr>
        <p:spPr>
          <a:xfrm>
            <a:off x="8694281" y="2504520"/>
            <a:ext cx="3215919" cy="349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36393D"/>
                </a:solidFill>
                <a:effectLst/>
                <a:latin typeface="Arimo"/>
              </a:rPr>
              <a:t>16°𝐍 to 22.5°N &amp;𝟏𝟎𝟎°𝐄 to 𝟏𝟐𝟎°𝐄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72299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6123F-2B93-44FB-899D-0FF9CA8FB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Experiment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7EF95-2BE4-4BFF-BB78-CB3E2208D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Representation Learning Methods</a:t>
            </a:r>
          </a:p>
          <a:p>
            <a:pPr lvl="1"/>
            <a:r>
              <a:rPr lang="en-US" dirty="0"/>
              <a:t>Principle Component Analysis (PCA)</a:t>
            </a:r>
          </a:p>
          <a:p>
            <a:pPr lvl="1"/>
            <a:r>
              <a:rPr lang="en-US" dirty="0"/>
              <a:t>Convolutional Auto-Encode</a:t>
            </a:r>
          </a:p>
          <a:p>
            <a:pPr lvl="1"/>
            <a:r>
              <a:rPr lang="en-US" dirty="0"/>
              <a:t>Variational Auto-Encoder</a:t>
            </a:r>
          </a:p>
          <a:p>
            <a:pPr lvl="1"/>
            <a:r>
              <a:rPr lang="en-US" dirty="0"/>
              <a:t>ResNet50 Pre-trained with ImageNet</a:t>
            </a:r>
          </a:p>
          <a:p>
            <a:pPr lvl="1"/>
            <a:r>
              <a:rPr lang="en-US" dirty="0"/>
              <a:t>ResNet50 Pre-trained with ImageNet/</a:t>
            </a:r>
            <a:r>
              <a:rPr lang="en-US" dirty="0" err="1"/>
              <a:t>BigEarth</a:t>
            </a:r>
            <a:endParaRPr lang="en-US" dirty="0"/>
          </a:p>
          <a:p>
            <a:r>
              <a:rPr lang="en-US" dirty="0"/>
              <a:t>Downstream Tasks</a:t>
            </a:r>
          </a:p>
          <a:p>
            <a:pPr lvl="1"/>
            <a:r>
              <a:rPr lang="en-US" dirty="0"/>
              <a:t>Precipitation in Taipei Basin</a:t>
            </a:r>
          </a:p>
          <a:p>
            <a:pPr lvl="1"/>
            <a:r>
              <a:rPr lang="en-US" dirty="0"/>
              <a:t>Tropical Cyclones on NWP</a:t>
            </a:r>
          </a:p>
          <a:p>
            <a:pPr lvl="1"/>
            <a:r>
              <a:rPr lang="en-US" dirty="0"/>
              <a:t>Southeasterlies / Northeasterlies</a:t>
            </a:r>
          </a:p>
          <a:p>
            <a:pPr lvl="1"/>
            <a:r>
              <a:rPr lang="en-US" dirty="0"/>
              <a:t>Front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AC69C9-5ADD-4128-8ADF-A74E246940C9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01" r="19945" b="28537"/>
          <a:stretch/>
        </p:blipFill>
        <p:spPr bwMode="auto">
          <a:xfrm>
            <a:off x="7640876" y="1825625"/>
            <a:ext cx="4275551" cy="38611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6637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3A627-EF9A-469E-A138-91301DA13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Transfer Learning and Pre-trained Models</a:t>
            </a:r>
          </a:p>
        </p:txBody>
      </p:sp>
      <p:pic>
        <p:nvPicPr>
          <p:cNvPr id="3074" name="Picture 2" descr="Пин на доске Data Science">
            <a:extLst>
              <a:ext uri="{FF2B5EF4-FFF2-40B4-BE49-F238E27FC236}">
                <a16:creationId xmlns:a16="http://schemas.microsoft.com/office/drawing/2014/main" id="{9623CDB2-7DA5-4FAB-9F14-1DA636CE3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8286" y="1896486"/>
            <a:ext cx="4855827" cy="3369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Is Transfer Learning the final step for enabling AI in Aviation? -  Datascience.aero">
            <a:extLst>
              <a:ext uri="{FF2B5EF4-FFF2-40B4-BE49-F238E27FC236}">
                <a16:creationId xmlns:a16="http://schemas.microsoft.com/office/drawing/2014/main" id="{231F9F29-9885-4F7C-8325-B4E29458F5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190B7-D680-4416-BFD5-85EB84E32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38797" cy="4351338"/>
          </a:xfrm>
        </p:spPr>
        <p:txBody>
          <a:bodyPr/>
          <a:lstStyle/>
          <a:p>
            <a:r>
              <a:rPr lang="en-US" dirty="0"/>
              <a:t>What are pretrained models?</a:t>
            </a:r>
          </a:p>
          <a:p>
            <a:pPr lvl="1"/>
            <a:r>
              <a:rPr lang="en-US" dirty="0"/>
              <a:t>Deep neural networks can </a:t>
            </a:r>
            <a:r>
              <a:rPr lang="en-US" i="1" dirty="0"/>
              <a:t>learn</a:t>
            </a:r>
            <a:r>
              <a:rPr lang="en-US" dirty="0"/>
              <a:t> its weights from provided data.</a:t>
            </a:r>
          </a:p>
          <a:p>
            <a:pPr lvl="1"/>
            <a:r>
              <a:rPr lang="en-US" dirty="0"/>
              <a:t>A pretrained model is a deep neural network model with weights learned from certain datasets.</a:t>
            </a:r>
          </a:p>
          <a:p>
            <a:pPr lvl="1"/>
            <a:r>
              <a:rPr lang="en-US" dirty="0"/>
              <a:t>Using a pretrained model for our own dataset and tasks is called </a:t>
            </a:r>
            <a:r>
              <a:rPr lang="en-US" b="1" i="1" dirty="0"/>
              <a:t>Transfer Learning</a:t>
            </a:r>
            <a:r>
              <a:rPr lang="en-US" dirty="0"/>
              <a:t> or fine-tuning.</a:t>
            </a:r>
          </a:p>
        </p:txBody>
      </p:sp>
    </p:spTree>
    <p:extLst>
      <p:ext uri="{BB962C8B-B14F-4D97-AF65-F5344CB8AC3E}">
        <p14:creationId xmlns:p14="http://schemas.microsoft.com/office/powerpoint/2010/main" val="1247028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3A627-EF9A-469E-A138-91301DA13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Transferring the Learned Knowledge</a:t>
            </a:r>
          </a:p>
        </p:txBody>
      </p:sp>
      <p:sp>
        <p:nvSpPr>
          <p:cNvPr id="4" name="AutoShape 4" descr="Is Transfer Learning the final step for enabling AI in Aviation? -  Datascience.aero">
            <a:extLst>
              <a:ext uri="{FF2B5EF4-FFF2-40B4-BE49-F238E27FC236}">
                <a16:creationId xmlns:a16="http://schemas.microsoft.com/office/drawing/2014/main" id="{231F9F29-9885-4F7C-8325-B4E29458F5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8" name="Picture 6" descr="Is Transfer Learning the final step for enabling AI in Aviation? -  Datascience.aero">
            <a:extLst>
              <a:ext uri="{FF2B5EF4-FFF2-40B4-BE49-F238E27FC236}">
                <a16:creationId xmlns:a16="http://schemas.microsoft.com/office/drawing/2014/main" id="{2AB246FE-A8B5-48A4-8D2E-88D23E792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618" y="1693552"/>
            <a:ext cx="9395564" cy="4799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925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3A627-EF9A-469E-A138-91301DA13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Why do we need pretrained models?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D3E7F-0C11-4E5F-B2D7-D539A816A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leverage the </a:t>
            </a:r>
            <a:r>
              <a:rPr lang="en-US" b="1" dirty="0"/>
              <a:t>knowledge</a:t>
            </a:r>
            <a:r>
              <a:rPr lang="en-US" dirty="0"/>
              <a:t> learned from similar data/tasks.</a:t>
            </a:r>
          </a:p>
          <a:p>
            <a:pPr lvl="1"/>
            <a:r>
              <a:rPr lang="en-US" dirty="0"/>
              <a:t>It is very common that we don’t have sufficient data to train our own deep neural network.</a:t>
            </a:r>
          </a:p>
          <a:p>
            <a:pPr lvl="1"/>
            <a:r>
              <a:rPr lang="en-US" dirty="0"/>
              <a:t>Especially for classifying rare events or anomaly detection tasks.</a:t>
            </a:r>
          </a:p>
          <a:p>
            <a:r>
              <a:rPr lang="en-US" dirty="0"/>
              <a:t>Model training is </a:t>
            </a:r>
            <a:r>
              <a:rPr lang="en-US" b="1" dirty="0"/>
              <a:t>expensive</a:t>
            </a:r>
          </a:p>
          <a:p>
            <a:pPr lvl="1"/>
            <a:r>
              <a:rPr lang="en-US" dirty="0"/>
              <a:t>ML models are in general expensive at training and cheap at predicting.</a:t>
            </a:r>
          </a:p>
          <a:p>
            <a:pPr lvl="1"/>
            <a:r>
              <a:rPr lang="en-US" dirty="0"/>
              <a:t>The computations of deep learning heavily rely on GPUs.</a:t>
            </a:r>
          </a:p>
          <a:p>
            <a:pPr lvl="1"/>
            <a:r>
              <a:rPr lang="en-US" dirty="0"/>
              <a:t>GPUs are not only expensive, but also hard to get (due to the hype of cryptocurrency </a:t>
            </a:r>
            <a:r>
              <a:rPr lang="en-US" i="1" dirty="0"/>
              <a:t>mining</a:t>
            </a:r>
            <a:r>
              <a:rPr lang="en-US" dirty="0"/>
              <a:t>).</a:t>
            </a:r>
          </a:p>
          <a:p>
            <a:r>
              <a:rPr lang="en-US" dirty="0"/>
              <a:t>Fine-tuning a pretrained model can be a practical choice.</a:t>
            </a:r>
          </a:p>
        </p:txBody>
      </p:sp>
      <p:sp>
        <p:nvSpPr>
          <p:cNvPr id="4" name="AutoShape 4" descr="Is Transfer Learning the final step for enabling AI in Aviation? -  Datascience.aero">
            <a:extLst>
              <a:ext uri="{FF2B5EF4-FFF2-40B4-BE49-F238E27FC236}">
                <a16:creationId xmlns:a16="http://schemas.microsoft.com/office/drawing/2014/main" id="{231F9F29-9885-4F7C-8325-B4E29458F5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034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6123F-2B93-44FB-899D-0FF9CA8FB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Experiment Flow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EE60932-38E9-4715-9AE3-4FF44F66CA22}"/>
              </a:ext>
            </a:extLst>
          </p:cNvPr>
          <p:cNvSpPr/>
          <p:nvPr/>
        </p:nvSpPr>
        <p:spPr>
          <a:xfrm>
            <a:off x="2034540" y="1765991"/>
            <a:ext cx="8122920" cy="65890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NOAA-GridSat-B1 CDR data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3BBEBA2-CE03-47C5-9BB8-622B4036A46B}"/>
              </a:ext>
            </a:extLst>
          </p:cNvPr>
          <p:cNvSpPr/>
          <p:nvPr/>
        </p:nvSpPr>
        <p:spPr>
          <a:xfrm>
            <a:off x="2034540" y="2861086"/>
            <a:ext cx="8122920" cy="658905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Projections on the learned representations (feature vector)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D684DCE-B45D-4837-AFBC-EAA15BAF809B}"/>
              </a:ext>
            </a:extLst>
          </p:cNvPr>
          <p:cNvSpPr/>
          <p:nvPr/>
        </p:nvSpPr>
        <p:spPr>
          <a:xfrm>
            <a:off x="2034540" y="3956181"/>
            <a:ext cx="8122920" cy="658905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Generalized Liner Model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17C2608-9AA6-4D6A-A0DF-B5652F1B8586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6096000" y="2424896"/>
            <a:ext cx="0" cy="43619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B948546-8A84-4DFA-A479-6638A10E95B3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6096000" y="3519991"/>
            <a:ext cx="0" cy="43619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B76310C-E370-4F56-B7B6-A50E04E11E07}"/>
              </a:ext>
            </a:extLst>
          </p:cNvPr>
          <p:cNvSpPr/>
          <p:nvPr/>
        </p:nvSpPr>
        <p:spPr>
          <a:xfrm>
            <a:off x="2034540" y="5309459"/>
            <a:ext cx="2117912" cy="658905"/>
          </a:xfrm>
          <a:prstGeom prst="round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Precipitation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D6A7C8B-9742-4214-8FA8-DA549CFF6A2E}"/>
              </a:ext>
            </a:extLst>
          </p:cNvPr>
          <p:cNvSpPr/>
          <p:nvPr/>
        </p:nvSpPr>
        <p:spPr>
          <a:xfrm>
            <a:off x="4370743" y="5309458"/>
            <a:ext cx="1406113" cy="658905"/>
          </a:xfrm>
          <a:prstGeom prst="round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NWPTC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28196C9-25C3-4338-B2BF-C441F122CE0C}"/>
              </a:ext>
            </a:extLst>
          </p:cNvPr>
          <p:cNvSpPr/>
          <p:nvPr/>
        </p:nvSpPr>
        <p:spPr>
          <a:xfrm>
            <a:off x="7401259" y="5309456"/>
            <a:ext cx="1131796" cy="658905"/>
          </a:xfrm>
          <a:prstGeom prst="round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NE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2BC74B3-3FBF-4877-91E0-FB0478AF8B5F}"/>
              </a:ext>
            </a:extLst>
          </p:cNvPr>
          <p:cNvSpPr/>
          <p:nvPr/>
        </p:nvSpPr>
        <p:spPr>
          <a:xfrm>
            <a:off x="5995148" y="5309457"/>
            <a:ext cx="1131796" cy="658905"/>
          </a:xfrm>
          <a:prstGeom prst="round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FT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77C7C65-D4E1-4FD1-9A05-1FA7770A7662}"/>
              </a:ext>
            </a:extLst>
          </p:cNvPr>
          <p:cNvSpPr/>
          <p:nvPr/>
        </p:nvSpPr>
        <p:spPr>
          <a:xfrm>
            <a:off x="8751347" y="5309456"/>
            <a:ext cx="1406113" cy="658905"/>
          </a:xfrm>
          <a:prstGeom prst="round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SWF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2FFA018-B454-4CDB-9310-A0761B9E9B23}"/>
              </a:ext>
            </a:extLst>
          </p:cNvPr>
          <p:cNvCxnSpPr>
            <a:cxnSpLocks/>
            <a:stCxn id="11" idx="2"/>
            <a:endCxn id="17" idx="0"/>
          </p:cNvCxnSpPr>
          <p:nvPr/>
        </p:nvCxnSpPr>
        <p:spPr>
          <a:xfrm flipH="1">
            <a:off x="3093496" y="4615086"/>
            <a:ext cx="3002504" cy="69437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ECA8C53-94BE-4A9A-90B2-10D22C61874A}"/>
              </a:ext>
            </a:extLst>
          </p:cNvPr>
          <p:cNvCxnSpPr>
            <a:cxnSpLocks/>
            <a:stCxn id="11" idx="2"/>
            <a:endCxn id="22" idx="0"/>
          </p:cNvCxnSpPr>
          <p:nvPr/>
        </p:nvCxnSpPr>
        <p:spPr>
          <a:xfrm flipH="1">
            <a:off x="5073800" y="4615086"/>
            <a:ext cx="1022200" cy="69437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33BE033-6B5E-41A1-80EF-7ACE000B93E0}"/>
              </a:ext>
            </a:extLst>
          </p:cNvPr>
          <p:cNvCxnSpPr>
            <a:cxnSpLocks/>
            <a:stCxn id="11" idx="2"/>
            <a:endCxn id="24" idx="0"/>
          </p:cNvCxnSpPr>
          <p:nvPr/>
        </p:nvCxnSpPr>
        <p:spPr>
          <a:xfrm>
            <a:off x="6096000" y="4615086"/>
            <a:ext cx="465046" cy="69437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8B756CA-90D7-44CD-831C-6C93732F4EBB}"/>
              </a:ext>
            </a:extLst>
          </p:cNvPr>
          <p:cNvCxnSpPr>
            <a:cxnSpLocks/>
            <a:stCxn id="11" idx="2"/>
            <a:endCxn id="23" idx="0"/>
          </p:cNvCxnSpPr>
          <p:nvPr/>
        </p:nvCxnSpPr>
        <p:spPr>
          <a:xfrm>
            <a:off x="6096000" y="4615086"/>
            <a:ext cx="1871157" cy="69437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B03CAD6-7BD2-483B-9811-1E7280B75E7C}"/>
              </a:ext>
            </a:extLst>
          </p:cNvPr>
          <p:cNvCxnSpPr>
            <a:cxnSpLocks/>
            <a:stCxn id="11" idx="2"/>
            <a:endCxn id="25" idx="0"/>
          </p:cNvCxnSpPr>
          <p:nvPr/>
        </p:nvCxnSpPr>
        <p:spPr>
          <a:xfrm>
            <a:off x="6096000" y="4615086"/>
            <a:ext cx="3358404" cy="69437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0864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3A627-EF9A-469E-A138-91301DA13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Experimental Results</a:t>
            </a:r>
          </a:p>
        </p:txBody>
      </p:sp>
      <p:sp>
        <p:nvSpPr>
          <p:cNvPr id="4" name="AutoShape 4" descr="Is Transfer Learning the final step for enabling AI in Aviation? -  Datascience.aero">
            <a:extLst>
              <a:ext uri="{FF2B5EF4-FFF2-40B4-BE49-F238E27FC236}">
                <a16:creationId xmlns:a16="http://schemas.microsoft.com/office/drawing/2014/main" id="{231F9F29-9885-4F7C-8325-B4E29458F5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29A6914-739E-4499-AEF9-26DFCB7ED5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8" y="1550193"/>
            <a:ext cx="5105400" cy="51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10FE92F-0D82-4A48-A1C4-DC9A86A968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1" y="1550193"/>
            <a:ext cx="5105399" cy="5105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: 圓角 4">
            <a:extLst>
              <a:ext uri="{FF2B5EF4-FFF2-40B4-BE49-F238E27FC236}">
                <a16:creationId xmlns:a16="http://schemas.microsoft.com/office/drawing/2014/main" id="{544BE0CA-8478-4E5B-B08C-87800FB65219}"/>
              </a:ext>
            </a:extLst>
          </p:cNvPr>
          <p:cNvSpPr/>
          <p:nvPr/>
        </p:nvSpPr>
        <p:spPr>
          <a:xfrm>
            <a:off x="4139921" y="5647173"/>
            <a:ext cx="1465834" cy="4225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256x256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B96C9DD5-95AC-466C-B3DD-4AFA59826235}"/>
              </a:ext>
            </a:extLst>
          </p:cNvPr>
          <p:cNvSpPr/>
          <p:nvPr/>
        </p:nvSpPr>
        <p:spPr>
          <a:xfrm>
            <a:off x="9587802" y="5647172"/>
            <a:ext cx="1465834" cy="4225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512x512</a:t>
            </a:r>
          </a:p>
        </p:txBody>
      </p:sp>
    </p:spTree>
    <p:extLst>
      <p:ext uri="{BB962C8B-B14F-4D97-AF65-F5344CB8AC3E}">
        <p14:creationId xmlns:p14="http://schemas.microsoft.com/office/powerpoint/2010/main" val="3129420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3A627-EF9A-469E-A138-91301DA13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Precipitation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4221F38-C38C-4AE0-84CC-63BDF274C4A3}"/>
              </a:ext>
            </a:extLst>
          </p:cNvPr>
          <p:cNvSpPr txBox="1"/>
          <p:nvPr/>
        </p:nvSpPr>
        <p:spPr>
          <a:xfrm>
            <a:off x="838200" y="2518268"/>
            <a:ext cx="755217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 id event feature  sensitivity     </a:t>
            </a:r>
            <a:r>
              <a:rPr lang="en-US" sz="1600" dirty="0" err="1">
                <a:latin typeface="Consolas" panose="020B0609020204030204" pitchFamily="49" charset="0"/>
              </a:rPr>
              <a:t>fpr</a:t>
            </a:r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</a:rPr>
              <a:t>threat_score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0   PCA-HRH   HRH     PCA         0.63  0.2722        0.4187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1   CAE-HRH   HRH     CAE         0.63  0.2722        </a:t>
            </a:r>
            <a:r>
              <a:rPr lang="en-US" sz="1600" b="1" dirty="0">
                <a:latin typeface="Consolas" panose="020B0609020204030204" pitchFamily="49" charset="0"/>
              </a:rPr>
              <a:t>0.4200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2  CVAE-HRH   HRH    CVAE         0.47  0.4148        0.2661</a:t>
            </a:r>
          </a:p>
          <a:p>
            <a:r>
              <a:rPr lang="en-US" sz="1600" dirty="0">
                <a:highlight>
                  <a:srgbClr val="FFFF00"/>
                </a:highlight>
                <a:latin typeface="Consolas" panose="020B0609020204030204" pitchFamily="49" charset="0"/>
              </a:rPr>
              <a:t>3  PTBE-HRH   HRH    PTBE         0.69  0.3698        0.4151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4  PTIN-HRH   HRH    PTIN         0.67  0.3451        0.4146</a:t>
            </a:r>
            <a:endParaRPr lang="en-US" sz="16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EAE8936-DBAA-4684-8CA1-551F24CFC435}"/>
              </a:ext>
            </a:extLst>
          </p:cNvPr>
          <p:cNvSpPr txBox="1"/>
          <p:nvPr/>
        </p:nvSpPr>
        <p:spPr>
          <a:xfrm>
            <a:off x="838199" y="4591331"/>
            <a:ext cx="755217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 id event feature  sensitivity     </a:t>
            </a:r>
            <a:r>
              <a:rPr lang="en-US" sz="1600" dirty="0" err="1">
                <a:latin typeface="Consolas" panose="020B0609020204030204" pitchFamily="49" charset="0"/>
              </a:rPr>
              <a:t>fpr</a:t>
            </a:r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</a:rPr>
              <a:t>threat_score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0   PCA-HRH   HRH     PCA         0.60  0.2787        0.3974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1   CAE-HRH   HRH     CAE         0.64  0.2626        </a:t>
            </a:r>
            <a:r>
              <a:rPr lang="en-US" sz="1600" b="1" dirty="0">
                <a:latin typeface="Consolas" panose="020B0609020204030204" pitchFamily="49" charset="0"/>
              </a:rPr>
              <a:t>0.4329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2  CVAE-HRH   HRH    CVAE         0.44  0.4319        0.2462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3  PTBE-HRH   HRH    PTBE         0.68  0.3719        0.4060</a:t>
            </a:r>
          </a:p>
          <a:p>
            <a:r>
              <a:rPr lang="en-US" sz="1600" dirty="0">
                <a:highlight>
                  <a:srgbClr val="FFFF00"/>
                </a:highlight>
                <a:latin typeface="Consolas" panose="020B0609020204030204" pitchFamily="49" charset="0"/>
              </a:rPr>
              <a:t>4  PTIN-HRH   HRH    PTIN         0.69  0.3805        0.4057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A9C5098A-F708-4510-A2C7-536F5B488CD0}"/>
              </a:ext>
            </a:extLst>
          </p:cNvPr>
          <p:cNvSpPr/>
          <p:nvPr/>
        </p:nvSpPr>
        <p:spPr>
          <a:xfrm>
            <a:off x="838199" y="2095747"/>
            <a:ext cx="1465834" cy="4225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256x256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07894ACD-8097-43E0-AFD2-4FBD783C8D92}"/>
              </a:ext>
            </a:extLst>
          </p:cNvPr>
          <p:cNvSpPr/>
          <p:nvPr/>
        </p:nvSpPr>
        <p:spPr>
          <a:xfrm>
            <a:off x="838199" y="4168810"/>
            <a:ext cx="1465834" cy="4225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512x512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CC309A6-C6FF-4E8E-B77B-8DA20D8ECAD5}"/>
              </a:ext>
            </a:extLst>
          </p:cNvPr>
          <p:cNvSpPr/>
          <p:nvPr/>
        </p:nvSpPr>
        <p:spPr>
          <a:xfrm>
            <a:off x="838199" y="1592344"/>
            <a:ext cx="10515600" cy="422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Definition: any station in Taipei Basin recorded a precipitation &gt;= 10mm/hour within the day.</a:t>
            </a:r>
          </a:p>
        </p:txBody>
      </p:sp>
    </p:spTree>
    <p:extLst>
      <p:ext uri="{BB962C8B-B14F-4D97-AF65-F5344CB8AC3E}">
        <p14:creationId xmlns:p14="http://schemas.microsoft.com/office/powerpoint/2010/main" val="2580850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3A627-EF9A-469E-A138-91301DA13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NWPTC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4221F38-C38C-4AE0-84CC-63BDF274C4A3}"/>
              </a:ext>
            </a:extLst>
          </p:cNvPr>
          <p:cNvSpPr txBox="1"/>
          <p:nvPr/>
        </p:nvSpPr>
        <p:spPr>
          <a:xfrm>
            <a:off x="838200" y="2518270"/>
            <a:ext cx="755217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 id  event feature  sensitivity     </a:t>
            </a:r>
            <a:r>
              <a:rPr lang="en-US" sz="1600" dirty="0" err="1">
                <a:latin typeface="Consolas" panose="020B0609020204030204" pitchFamily="49" charset="0"/>
              </a:rPr>
              <a:t>fpr</a:t>
            </a:r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</a:rPr>
              <a:t>threat_score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0   PCA-NWPTC  NWPTC     PCA         0.68  0.1700        0.5746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1   CAE-NWPTC  NWPTC     CAE         0.70  0.1871        0.5824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2  CVAE-NWPTC  NWPTC    CVAE         0.50  0.4980        0.3252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3  PTBE-NWPTC  NWPTC    PTBE         0.71  0.2253        0.5651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4  </a:t>
            </a:r>
            <a:r>
              <a:rPr lang="en-US" sz="1600" dirty="0">
                <a:highlight>
                  <a:srgbClr val="FFFF00"/>
                </a:highlight>
                <a:latin typeface="Consolas" panose="020B0609020204030204" pitchFamily="49" charset="0"/>
              </a:rPr>
              <a:t>PTIN-NWPTC  NWPTC    PTIN         0.77  0.1383        </a:t>
            </a:r>
            <a:r>
              <a:rPr lang="en-US" sz="1600" b="1" dirty="0">
                <a:highlight>
                  <a:srgbClr val="FFFF00"/>
                </a:highlight>
                <a:latin typeface="Consolas" panose="020B0609020204030204" pitchFamily="49" charset="0"/>
              </a:rPr>
              <a:t>0.6650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EAE8936-DBAA-4684-8CA1-551F24CFC435}"/>
              </a:ext>
            </a:extLst>
          </p:cNvPr>
          <p:cNvSpPr txBox="1"/>
          <p:nvPr/>
        </p:nvSpPr>
        <p:spPr>
          <a:xfrm>
            <a:off x="838199" y="4591331"/>
            <a:ext cx="755217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 id  event feature  sensitivity     </a:t>
            </a:r>
            <a:r>
              <a:rPr lang="en-US" sz="1600" dirty="0" err="1">
                <a:latin typeface="Consolas" panose="020B0609020204030204" pitchFamily="49" charset="0"/>
              </a:rPr>
              <a:t>fpr</a:t>
            </a:r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</a:rPr>
              <a:t>threat_score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0   PCA-NWPTC  NWPTC     PCA         0.68  0.1897        0.5642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1   CAE-NWPTC  NWPTC     CAE         0.70  0.1871        0.5788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2  CVAE-NWPTC  NWPTC    CVAE         0.49  0.4585        0.3259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3  PTBE-NWPTC  NWPTC    PTBE         0.70  0.2767        0.5362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4  </a:t>
            </a:r>
            <a:r>
              <a:rPr lang="en-US" sz="1600" dirty="0">
                <a:highlight>
                  <a:srgbClr val="FFFF00"/>
                </a:highlight>
                <a:latin typeface="Consolas" panose="020B0609020204030204" pitchFamily="49" charset="0"/>
              </a:rPr>
              <a:t>PTIN-NWPTC  NWPTC    PTIN         0.77  0.1423        </a:t>
            </a:r>
            <a:r>
              <a:rPr lang="en-US" sz="1600" b="1" dirty="0">
                <a:highlight>
                  <a:srgbClr val="FFFF00"/>
                </a:highlight>
                <a:latin typeface="Consolas" panose="020B0609020204030204" pitchFamily="49" charset="0"/>
              </a:rPr>
              <a:t>0.6675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A9C5098A-F708-4510-A2C7-536F5B488CD0}"/>
              </a:ext>
            </a:extLst>
          </p:cNvPr>
          <p:cNvSpPr/>
          <p:nvPr/>
        </p:nvSpPr>
        <p:spPr>
          <a:xfrm>
            <a:off x="838199" y="2095749"/>
            <a:ext cx="1465834" cy="4225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256x256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07894ACD-8097-43E0-AFD2-4FBD783C8D92}"/>
              </a:ext>
            </a:extLst>
          </p:cNvPr>
          <p:cNvSpPr/>
          <p:nvPr/>
        </p:nvSpPr>
        <p:spPr>
          <a:xfrm>
            <a:off x="838199" y="4168810"/>
            <a:ext cx="1465834" cy="4225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512x512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B1D1276-351B-4B8B-AF94-67A1B303BD4E}"/>
              </a:ext>
            </a:extLst>
          </p:cNvPr>
          <p:cNvSpPr/>
          <p:nvPr/>
        </p:nvSpPr>
        <p:spPr>
          <a:xfrm>
            <a:off x="838199" y="1592344"/>
            <a:ext cx="10515600" cy="422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Definition: JTWC best track</a:t>
            </a:r>
          </a:p>
        </p:txBody>
      </p:sp>
    </p:spTree>
    <p:extLst>
      <p:ext uri="{BB962C8B-B14F-4D97-AF65-F5344CB8AC3E}">
        <p14:creationId xmlns:p14="http://schemas.microsoft.com/office/powerpoint/2010/main" val="35861129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3A627-EF9A-469E-A138-91301DA13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FT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4221F38-C38C-4AE0-84CC-63BDF274C4A3}"/>
              </a:ext>
            </a:extLst>
          </p:cNvPr>
          <p:cNvSpPr txBox="1"/>
          <p:nvPr/>
        </p:nvSpPr>
        <p:spPr>
          <a:xfrm>
            <a:off x="838200" y="2508220"/>
            <a:ext cx="755217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 id event feature  sensitivity     </a:t>
            </a:r>
            <a:r>
              <a:rPr lang="en-US" sz="1600" dirty="0" err="1">
                <a:latin typeface="Consolas" panose="020B0609020204030204" pitchFamily="49" charset="0"/>
              </a:rPr>
              <a:t>fpr</a:t>
            </a:r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</a:rPr>
              <a:t>threat_score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highlight>
                  <a:srgbClr val="FFFF00"/>
                </a:highlight>
                <a:latin typeface="Consolas" panose="020B0609020204030204" pitchFamily="49" charset="0"/>
              </a:rPr>
              <a:t>0   PCA-FT    FT     PCA         0.66  0.2473        0.2937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1   CAE-FT    FT     CAE         0.63  0.1969        </a:t>
            </a:r>
            <a:r>
              <a:rPr lang="en-US" sz="1600" b="1" dirty="0">
                <a:latin typeface="Consolas" panose="020B0609020204030204" pitchFamily="49" charset="0"/>
              </a:rPr>
              <a:t>0.3145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2  CVAE-FT    FT    CVAE         0.42  0.3325        0.1576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3  PTBE-FT    FT    PTBE         0.56  0.3433        0.2034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4  PTIN-FT    FT    PTIN         0.63  0.2804        0.2595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EAE8936-DBAA-4684-8CA1-551F24CFC435}"/>
              </a:ext>
            </a:extLst>
          </p:cNvPr>
          <p:cNvSpPr txBox="1"/>
          <p:nvPr/>
        </p:nvSpPr>
        <p:spPr>
          <a:xfrm>
            <a:off x="838199" y="4591331"/>
            <a:ext cx="755217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 id event feature  sensitivity     </a:t>
            </a:r>
            <a:r>
              <a:rPr lang="en-US" sz="1600" dirty="0" err="1">
                <a:latin typeface="Consolas" panose="020B0609020204030204" pitchFamily="49" charset="0"/>
              </a:rPr>
              <a:t>fpr</a:t>
            </a:r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</a:rPr>
              <a:t>threat_score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0   PCA-FT    FT     PCA         0.62  0.2407        0.2792</a:t>
            </a:r>
          </a:p>
          <a:p>
            <a:r>
              <a:rPr lang="en-US" sz="1600" dirty="0">
                <a:highlight>
                  <a:srgbClr val="FFFF00"/>
                </a:highlight>
                <a:latin typeface="Consolas" panose="020B0609020204030204" pitchFamily="49" charset="0"/>
              </a:rPr>
              <a:t>1   CAE-FT    FT     CAE         0.67  0.2026        </a:t>
            </a:r>
            <a:r>
              <a:rPr lang="en-US" sz="1600" b="1" dirty="0">
                <a:highlight>
                  <a:srgbClr val="FFFF00"/>
                </a:highlight>
                <a:latin typeface="Consolas" panose="020B0609020204030204" pitchFamily="49" charset="0"/>
              </a:rPr>
              <a:t>0.3285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2  CVAE-FT    FT    CVAE         0.34  0.3648        0.1206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3  PTBE-FT    FT    PTBE         0.59  0.3681        0.2061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4  PTIN-FT    FT    PTIN         0.62  0.3317        0.2312</a:t>
            </a:r>
            <a:endParaRPr lang="en-US" sz="16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A9C5098A-F708-4510-A2C7-536F5B488CD0}"/>
              </a:ext>
            </a:extLst>
          </p:cNvPr>
          <p:cNvSpPr/>
          <p:nvPr/>
        </p:nvSpPr>
        <p:spPr>
          <a:xfrm>
            <a:off x="838199" y="2085699"/>
            <a:ext cx="1465834" cy="4225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256x256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07894ACD-8097-43E0-AFD2-4FBD783C8D92}"/>
              </a:ext>
            </a:extLst>
          </p:cNvPr>
          <p:cNvSpPr/>
          <p:nvPr/>
        </p:nvSpPr>
        <p:spPr>
          <a:xfrm>
            <a:off x="838199" y="4168810"/>
            <a:ext cx="1465834" cy="4225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512x512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C293CE3-62BA-4445-931C-E97C8D447A5B}"/>
              </a:ext>
            </a:extLst>
          </p:cNvPr>
          <p:cNvSpPr/>
          <p:nvPr/>
        </p:nvSpPr>
        <p:spPr>
          <a:xfrm>
            <a:off x="838199" y="1592344"/>
            <a:ext cx="10515600" cy="422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Definition: CWB weather map (00Z) showed a front over Taiwan area.</a:t>
            </a:r>
          </a:p>
        </p:txBody>
      </p:sp>
    </p:spTree>
    <p:extLst>
      <p:ext uri="{BB962C8B-B14F-4D97-AF65-F5344CB8AC3E}">
        <p14:creationId xmlns:p14="http://schemas.microsoft.com/office/powerpoint/2010/main" val="31711069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3A627-EF9A-469E-A138-91301DA13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4221F38-C38C-4AE0-84CC-63BDF274C4A3}"/>
              </a:ext>
            </a:extLst>
          </p:cNvPr>
          <p:cNvSpPr txBox="1"/>
          <p:nvPr/>
        </p:nvSpPr>
        <p:spPr>
          <a:xfrm>
            <a:off x="838200" y="2518269"/>
            <a:ext cx="755217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 id event feature  sensitivity     </a:t>
            </a:r>
            <a:r>
              <a:rPr lang="en-US" sz="1600" dirty="0" err="1">
                <a:latin typeface="Consolas" panose="020B0609020204030204" pitchFamily="49" charset="0"/>
              </a:rPr>
              <a:t>fpr</a:t>
            </a:r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</a:rPr>
              <a:t>threat_score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highlight>
                  <a:srgbClr val="FFFF00"/>
                </a:highlight>
                <a:latin typeface="Consolas" panose="020B0609020204030204" pitchFamily="49" charset="0"/>
              </a:rPr>
              <a:t>0   PCA-NE    NE     PCA         0.78  0.2972        0.4816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1   CAE-NE    NE     CAE         0.77  0.2768        </a:t>
            </a:r>
            <a:r>
              <a:rPr lang="en-US" sz="1600" b="1" dirty="0">
                <a:latin typeface="Consolas" panose="020B0609020204030204" pitchFamily="49" charset="0"/>
              </a:rPr>
              <a:t>0.4878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2  CVAE-NE    NE    CVAE         0.45  0.4484        0.2313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3  PTBE-NE    NE    PTBE         0.68  0.2962        0.4177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4  PTIN-NE    NE    PTIN         0.74  0.2809        0.4677</a:t>
            </a:r>
            <a:endParaRPr lang="en-US" sz="16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EAE8936-DBAA-4684-8CA1-551F24CFC435}"/>
              </a:ext>
            </a:extLst>
          </p:cNvPr>
          <p:cNvSpPr txBox="1"/>
          <p:nvPr/>
        </p:nvSpPr>
        <p:spPr>
          <a:xfrm>
            <a:off x="838199" y="4591331"/>
            <a:ext cx="755217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 id event feature  sensitivity     </a:t>
            </a:r>
            <a:r>
              <a:rPr lang="en-US" sz="1600" dirty="0" err="1">
                <a:latin typeface="Consolas" panose="020B0609020204030204" pitchFamily="49" charset="0"/>
              </a:rPr>
              <a:t>fpr</a:t>
            </a:r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</a:rPr>
              <a:t>threat_score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0   PCA-NE    NE     PCA         0.75  0.2952        0.4670</a:t>
            </a:r>
          </a:p>
          <a:p>
            <a:r>
              <a:rPr lang="en-US" sz="1600" dirty="0">
                <a:highlight>
                  <a:srgbClr val="FFFF00"/>
                </a:highlight>
                <a:latin typeface="Consolas" panose="020B0609020204030204" pitchFamily="49" charset="0"/>
              </a:rPr>
              <a:t>1   CAE-NE    NE     CAE         0.79  0.2789        </a:t>
            </a:r>
            <a:r>
              <a:rPr lang="en-US" sz="1600" b="1" dirty="0">
                <a:highlight>
                  <a:srgbClr val="FFFF00"/>
                </a:highlight>
                <a:latin typeface="Consolas" panose="020B0609020204030204" pitchFamily="49" charset="0"/>
              </a:rPr>
              <a:t>0.4973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2  CVAE-NE    NE    CVAE         0.40  0.4688        0.2004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3  PTBE-NE    NE    PTBE         0.68  0.3095        0.4145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4  PTIN-NE    NE    PTIN         0.78  0.2809        0.4906</a:t>
            </a:r>
            <a:endParaRPr lang="en-US" sz="16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A9C5098A-F708-4510-A2C7-536F5B488CD0}"/>
              </a:ext>
            </a:extLst>
          </p:cNvPr>
          <p:cNvSpPr/>
          <p:nvPr/>
        </p:nvSpPr>
        <p:spPr>
          <a:xfrm>
            <a:off x="838199" y="2095748"/>
            <a:ext cx="1465834" cy="4225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256x256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07894ACD-8097-43E0-AFD2-4FBD783C8D92}"/>
              </a:ext>
            </a:extLst>
          </p:cNvPr>
          <p:cNvSpPr/>
          <p:nvPr/>
        </p:nvSpPr>
        <p:spPr>
          <a:xfrm>
            <a:off x="838199" y="4168810"/>
            <a:ext cx="1465834" cy="4225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512x512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846D7D-FA72-4FC0-9AFF-0277B3CA85BC}"/>
              </a:ext>
            </a:extLst>
          </p:cNvPr>
          <p:cNvSpPr/>
          <p:nvPr/>
        </p:nvSpPr>
        <p:spPr>
          <a:xfrm>
            <a:off x="838199" y="1592344"/>
            <a:ext cx="10515600" cy="422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Definition: the wind profile of </a:t>
            </a:r>
            <a:r>
              <a:rPr lang="en-US" dirty="0" err="1"/>
              <a:t>Pengjiayu</a:t>
            </a:r>
            <a:r>
              <a:rPr lang="en-US" dirty="0"/>
              <a:t> Weather Station (</a:t>
            </a:r>
            <a:r>
              <a:rPr lang="zh-TW" altLang="en-US" dirty="0"/>
              <a:t>彭佳嶼測站</a:t>
            </a:r>
            <a:r>
              <a:rPr lang="en-US" altLang="zh-TW" dirty="0"/>
              <a:t>) showed north-easterlies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676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3A627-EF9A-469E-A138-91301DA13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SWF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4221F38-C38C-4AE0-84CC-63BDF274C4A3}"/>
              </a:ext>
            </a:extLst>
          </p:cNvPr>
          <p:cNvSpPr txBox="1"/>
          <p:nvPr/>
        </p:nvSpPr>
        <p:spPr>
          <a:xfrm>
            <a:off x="838200" y="2508230"/>
            <a:ext cx="755217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 id event feature  sensitivity     </a:t>
            </a:r>
            <a:r>
              <a:rPr lang="en-US" sz="1600" dirty="0" err="1">
                <a:latin typeface="Consolas" panose="020B0609020204030204" pitchFamily="49" charset="0"/>
              </a:rPr>
              <a:t>fpr</a:t>
            </a:r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</a:rPr>
              <a:t>threat_score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highlight>
                  <a:srgbClr val="FFFF00"/>
                </a:highlight>
                <a:latin typeface="Consolas" panose="020B0609020204030204" pitchFamily="49" charset="0"/>
              </a:rPr>
              <a:t>0   PCA-SWF   SWF     PCA         0.92  0.2000        0.5977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1   CAE-SWF   SWF     CAE         0.89  0.1498        </a:t>
            </a:r>
            <a:r>
              <a:rPr lang="en-US" sz="1600" b="1" dirty="0">
                <a:latin typeface="Consolas" panose="020B0609020204030204" pitchFamily="49" charset="0"/>
              </a:rPr>
              <a:t>0.6370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2  CVAE-SWF   SWF    CVAE         0.44  0.3820        0.2186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3  PTBE-SWF   SWF    PTBE         0.88  0.2474        0.5260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4  PTIN-SWF   SWF    PTIN         0.90  0.1877        0.6007</a:t>
            </a:r>
            <a:endParaRPr lang="en-US" sz="16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EAE8936-DBAA-4684-8CA1-551F24CFC435}"/>
              </a:ext>
            </a:extLst>
          </p:cNvPr>
          <p:cNvSpPr txBox="1"/>
          <p:nvPr/>
        </p:nvSpPr>
        <p:spPr>
          <a:xfrm>
            <a:off x="838199" y="4591331"/>
            <a:ext cx="755217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 id event feature  sensitivity     </a:t>
            </a:r>
            <a:r>
              <a:rPr lang="en-US" sz="1600" dirty="0" err="1">
                <a:latin typeface="Consolas" panose="020B0609020204030204" pitchFamily="49" charset="0"/>
              </a:rPr>
              <a:t>fpr</a:t>
            </a:r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</a:rPr>
              <a:t>threat_score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0   PCA-SWF   SWF     PCA         0.90  0.1915        0.5966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1   CAE-SWF   SWF     CAE         0.90  0.1403        </a:t>
            </a:r>
            <a:r>
              <a:rPr lang="en-US" sz="1600" b="1" dirty="0">
                <a:latin typeface="Consolas" panose="020B0609020204030204" pitchFamily="49" charset="0"/>
              </a:rPr>
              <a:t>0.6506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2  CVAE-SWF   SWF    CVAE         0.41  0.4209        0.1912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3  PTBE-SWF   SWF    PTBE         0.91  0.2351        0.5585</a:t>
            </a:r>
          </a:p>
          <a:p>
            <a:r>
              <a:rPr lang="en-US" sz="1600" dirty="0">
                <a:highlight>
                  <a:srgbClr val="FFFF00"/>
                </a:highlight>
                <a:latin typeface="Consolas" panose="020B0609020204030204" pitchFamily="49" charset="0"/>
              </a:rPr>
              <a:t>4  PTIN-SWF   SWF    PTIN         0.93  0.1848        0.6224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A9C5098A-F708-4510-A2C7-536F5B488CD0}"/>
              </a:ext>
            </a:extLst>
          </p:cNvPr>
          <p:cNvSpPr/>
          <p:nvPr/>
        </p:nvSpPr>
        <p:spPr>
          <a:xfrm>
            <a:off x="838199" y="2085709"/>
            <a:ext cx="1465834" cy="4225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256x256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07894ACD-8097-43E0-AFD2-4FBD783C8D92}"/>
              </a:ext>
            </a:extLst>
          </p:cNvPr>
          <p:cNvSpPr/>
          <p:nvPr/>
        </p:nvSpPr>
        <p:spPr>
          <a:xfrm>
            <a:off x="838199" y="4168810"/>
            <a:ext cx="1465834" cy="4225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512x512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B24100E-1081-4227-A9AD-9A26B179A224}"/>
              </a:ext>
            </a:extLst>
          </p:cNvPr>
          <p:cNvSpPr/>
          <p:nvPr/>
        </p:nvSpPr>
        <p:spPr>
          <a:xfrm>
            <a:off x="838199" y="1592344"/>
            <a:ext cx="10515600" cy="422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Definition: the wind field of CFSR 850hPa reanalysis showed South-Westerlies.</a:t>
            </a:r>
          </a:p>
        </p:txBody>
      </p:sp>
    </p:spTree>
    <p:extLst>
      <p:ext uri="{BB962C8B-B14F-4D97-AF65-F5344CB8AC3E}">
        <p14:creationId xmlns:p14="http://schemas.microsoft.com/office/powerpoint/2010/main" val="13039012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937A3-5434-47CC-A80E-0F060042D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5C6FE-9CFD-472C-9662-A37F816C2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pretrained models perform very well. And pretrained with only ImageNet performs even better.</a:t>
            </a:r>
          </a:p>
          <a:p>
            <a:r>
              <a:rPr lang="en-US" dirty="0"/>
              <a:t>The good old friend, PCA, is a decent method. The performance of PCA is similar to CAE, and the algorithm is solid and robust.</a:t>
            </a:r>
          </a:p>
          <a:p>
            <a:r>
              <a:rPr lang="en-US" dirty="0"/>
              <a:t>SWF can be detected with a high hit-rate (0.92). NE is not as good as SWF but is still not bad. This suggests that the satellite image can provide information about synoptic scale wind patterns.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063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1458</Words>
  <Application>Microsoft Office PowerPoint</Application>
  <PresentationFormat>寬螢幕</PresentationFormat>
  <Paragraphs>193</Paragraphs>
  <Slides>21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8" baseType="lpstr">
      <vt:lpstr>Arimo</vt:lpstr>
      <vt:lpstr>微軟正黑體</vt:lpstr>
      <vt:lpstr>Arial</vt:lpstr>
      <vt:lpstr>Calibri</vt:lpstr>
      <vt:lpstr>Calibri Light</vt:lpstr>
      <vt:lpstr>Consolas</vt:lpstr>
      <vt:lpstr>Office Theme</vt:lpstr>
      <vt:lpstr>Learning the Representations of  Satellite Images</vt:lpstr>
      <vt:lpstr>Outline</vt:lpstr>
      <vt:lpstr>What is Representation Learning?</vt:lpstr>
      <vt:lpstr>A Short Review of Representation Learning</vt:lpstr>
      <vt:lpstr>Toward automatic discovery representations</vt:lpstr>
      <vt:lpstr>Here Come the Deep Neural Networks</vt:lpstr>
      <vt:lpstr>Evaluation of Learned Representations</vt:lpstr>
      <vt:lpstr>Datasets</vt:lpstr>
      <vt:lpstr>Define Weather Events</vt:lpstr>
      <vt:lpstr>Experiment Design</vt:lpstr>
      <vt:lpstr>Transfer Learning and Pre-trained Models</vt:lpstr>
      <vt:lpstr>Transferring the Learned Knowledge</vt:lpstr>
      <vt:lpstr>Why do we need pretrained models?</vt:lpstr>
      <vt:lpstr>Experiment Flow</vt:lpstr>
      <vt:lpstr>Experimental Results</vt:lpstr>
      <vt:lpstr>Precipitation</vt:lpstr>
      <vt:lpstr>NWPTC</vt:lpstr>
      <vt:lpstr>FT</vt:lpstr>
      <vt:lpstr>NE</vt:lpstr>
      <vt:lpstr>SWF</vt:lpstr>
      <vt:lpstr>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the Representations of  Satellite Images</dc:title>
  <dc:creator>Ting-Shuo Yo</dc:creator>
  <cp:lastModifiedBy>Ting-Shuo Yo</cp:lastModifiedBy>
  <cp:revision>41</cp:revision>
  <dcterms:created xsi:type="dcterms:W3CDTF">2021-07-16T01:53:19Z</dcterms:created>
  <dcterms:modified xsi:type="dcterms:W3CDTF">2021-07-23T06:47:40Z</dcterms:modified>
</cp:coreProperties>
</file>